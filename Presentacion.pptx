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2011680"/>
          </a:xfrm>
          <a:prstGeom prst="rect">
            <a:avLst/>
          </a:prstGeom>
          <a:solidFill>
            <a:srgbClr val="1B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800" b="1">
                <a:solidFill>
                  <a:srgbClr val="FFFFFF"/>
                </a:solidFill>
                <a:latin typeface="Georgia"/>
              </a:defRPr>
            </a:pPr>
            <a:r>
              <a:t>Introducción a los Sistemas Operativos de Tiempo Real con FreeRTOS</a:t>
            </a:r>
          </a:p>
          <a:p>
            <a:pPr algn="ctr">
              <a:defRPr sz="1800">
                <a:solidFill>
                  <a:srgbClr val="E3F2FD"/>
                </a:solidFill>
                <a:latin typeface="Verdana"/>
              </a:defRPr>
            </a:pPr>
            <a:r>
              <a:t>Arquitectura, Fundamentos y Aplicaciones en Sistemas Embebidos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926080"/>
            <a:ext cx="9448495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1B2040"/>
                </a:solidFill>
                <a:latin typeface="Verdana"/>
              </a:rPr>
              <a:t>Universidad: </a:t>
            </a:r>
            <a:r>
              <a:rPr sz="1600" b="0">
                <a:solidFill>
                  <a:srgbClr val="212529"/>
                </a:solidFill>
                <a:latin typeface="Verdana"/>
              </a:rPr>
              <a:t>Instituto Tecnológico de Costa Rica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2040"/>
                </a:solidFill>
                <a:latin typeface="Verdana"/>
              </a:rPr>
              <a:t>Curso: </a:t>
            </a:r>
            <a:r>
              <a:rPr sz="1600" b="0">
                <a:solidFill>
                  <a:srgbClr val="212529"/>
                </a:solidFill>
                <a:latin typeface="Verdana"/>
              </a:rPr>
              <a:t>Taller de Sistemas Embebidos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2040"/>
                </a:solidFill>
                <a:latin typeface="Verdana"/>
              </a:rPr>
              <a:t>Estudiante: </a:t>
            </a:r>
            <a:r>
              <a:rPr sz="1600" b="1">
                <a:solidFill>
                  <a:srgbClr val="0056B3"/>
                </a:solidFill>
                <a:latin typeface="Verdana"/>
              </a:rPr>
              <a:t>José David Vargas García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1B2040"/>
                </a:solidFill>
                <a:latin typeface="Verdana"/>
              </a:rPr>
              <a:t>Fecha: </a:t>
            </a:r>
            <a:r>
              <a:rPr sz="1600" b="0">
                <a:solidFill>
                  <a:srgbClr val="212529"/>
                </a:solidFill>
                <a:latin typeface="Verdana"/>
              </a:rPr>
              <a:t>2 de noviembre del 2026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B2040"/>
                </a:solidFill>
                <a:latin typeface="Verdana"/>
              </a:rPr>
              <a:t>Enfoque: </a:t>
            </a:r>
            <a:r>
              <a:rPr sz="1600" b="0">
                <a:solidFill>
                  <a:srgbClr val="212529"/>
                </a:solidFill>
                <a:latin typeface="Verdana"/>
              </a:rPr>
              <a:t>Sistemas Operativos de Tiempo Real (RTOS) y Kernel FreeRTOS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040"/>
                </a:solidFill>
                <a:latin typeface="Georgia"/>
              </a:defRPr>
            </a:pPr>
            <a:r>
              <a:t>Diapositiva 2: ¿Qué es un Sistema Operativo de Tiempo Real?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254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B2040"/>
                </a:solidFill>
                <a:latin typeface="Verdana"/>
              </a:rPr>
              <a:t>• Definición de RTOS: </a:t>
            </a:r>
            <a:r>
              <a:rPr sz="1400">
                <a:solidFill>
                  <a:srgbClr val="212529"/>
                </a:solidFill>
                <a:latin typeface="Verdana"/>
              </a:rPr>
              <a:t>Kernel ligero diseñado para responder a eventos del mundo real dentro de plazos temporales estrictos (deadlines).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B2040"/>
                </a:solidFill>
                <a:latin typeface="Verdana"/>
              </a:rPr>
              <a:t>• RTOS vs GPOS: </a:t>
            </a:r>
            <a:r>
              <a:rPr sz="1400">
                <a:solidFill>
                  <a:srgbClr val="212529"/>
                </a:solidFill>
                <a:latin typeface="Verdana"/>
              </a:rPr>
              <a:t>Un GPOS (Linux/Windows) busca maximizar el rendimiento promedio (throughput), mientras que un RTOS garantiza determinismo y latencia acotada.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B2040"/>
                </a:solidFill>
                <a:latin typeface="Verdana"/>
              </a:rPr>
              <a:t>• Hard Real-Time: </a:t>
            </a:r>
            <a:r>
              <a:rPr sz="1400">
                <a:solidFill>
                  <a:srgbClr val="212529"/>
                </a:solidFill>
                <a:latin typeface="Verdana"/>
              </a:rPr>
              <a:t>El incumplimiento de un solo deadline provoca un fallo catastrófico del sistema (frenos ABS, control de vuelo).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B2040"/>
                </a:solidFill>
                <a:latin typeface="Verdana"/>
              </a:rPr>
              <a:t>• Soft Real-Time: </a:t>
            </a:r>
            <a:r>
              <a:rPr sz="1400">
                <a:solidFill>
                  <a:srgbClr val="212529"/>
                </a:solidFill>
                <a:latin typeface="Verdana"/>
              </a:rPr>
              <a:t>El retraso ocasional degrada la calidad del servicio pero no destruye el sistema (transmisión de video, impresión térmica).</a:t>
            </a:r>
          </a:p>
        </p:txBody>
      </p:sp>
      <p:pic>
        <p:nvPicPr>
          <p:cNvPr id="5" name="Picture 4" descr="diag_slide2_rtos_d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5577840" cy="38304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040"/>
                </a:solidFill>
                <a:latin typeface="Georgia"/>
              </a:defRPr>
            </a:pPr>
            <a:r>
              <a:t>Diapositiva 3: Tabla Comparativa — RTOS vs. GPOS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254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54864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011680"/>
                <a:gridCol w="2011680"/>
              </a:tblGrid>
              <a:tr h="838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</a:rPr>
                        <a:t>Criterio</a:t>
                      </a:r>
                    </a:p>
                  </a:txBody>
                  <a:tcPr>
                    <a:solidFill>
                      <a:srgbClr val="1B2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</a:rPr>
                        <a:t>RTOS (FreeRTOS)</a:t>
                      </a:r>
                    </a:p>
                  </a:txBody>
                  <a:tcPr>
                    <a:solidFill>
                      <a:srgbClr val="1B20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</a:rPr>
                        <a:t>GPOS (Linux/Windows)</a:t>
                      </a:r>
                    </a:p>
                  </a:txBody>
                  <a:tcPr>
                    <a:solidFill>
                      <a:srgbClr val="1B204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12529"/>
                          </a:solidFill>
                          <a:latin typeface="Verdana"/>
                        </a:rPr>
                        <a:t>Objetivo</a:t>
                      </a:r>
                    </a:p>
                  </a:txBody>
                  <a:tcPr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529"/>
                          </a:solidFill>
                          <a:latin typeface="Verdana"/>
                        </a:rPr>
                        <a:t>Determinismo y latencia acotada</a:t>
                      </a:r>
                    </a:p>
                  </a:txBody>
                  <a:tcPr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529"/>
                          </a:solidFill>
                          <a:latin typeface="Verdana"/>
                        </a:rPr>
                        <a:t>Rendimiento promedio (Throughput)</a:t>
                      </a:r>
                    </a:p>
                  </a:txBody>
                  <a:tcPr>
                    <a:solidFill>
                      <a:srgbClr val="EAEEF3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12529"/>
                          </a:solidFill>
                          <a:latin typeface="Verdana"/>
                        </a:rPr>
                        <a:t>Planificación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529"/>
                          </a:solidFill>
                          <a:latin typeface="Verdana"/>
                        </a:rPr>
                        <a:t>Prioridades estrictas preventivas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529"/>
                          </a:solidFill>
                          <a:latin typeface="Verdana"/>
                        </a:rPr>
                        <a:t>Reparto equitativo (Time-slicing)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12529"/>
                          </a:solidFill>
                          <a:latin typeface="Verdana"/>
                        </a:rPr>
                        <a:t>Latencia ISR</a:t>
                      </a:r>
                    </a:p>
                  </a:txBody>
                  <a:tcPr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529"/>
                          </a:solidFill>
                          <a:latin typeface="Verdana"/>
                        </a:rPr>
                        <a:t>Mínima, acotada y predecible</a:t>
                      </a:r>
                    </a:p>
                  </a:txBody>
                  <a:tcPr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529"/>
                          </a:solidFill>
                          <a:latin typeface="Verdana"/>
                        </a:rPr>
                        <a:t>Variable e impredecible</a:t>
                      </a:r>
                    </a:p>
                  </a:txBody>
                  <a:tcPr>
                    <a:solidFill>
                      <a:srgbClr val="EAEEF3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12529"/>
                          </a:solidFill>
                          <a:latin typeface="Verdana"/>
                        </a:rPr>
                        <a:t>Huella Memoria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529"/>
                          </a:solidFill>
                          <a:latin typeface="Verdana"/>
                        </a:rPr>
                        <a:t>512 B - 10 KB Flash; 1.5 - 15 KB 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529"/>
                          </a:solidFill>
                          <a:latin typeface="Verdana"/>
                        </a:rPr>
                        <a:t>Cientos de Megabytes / Gigabytes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12529"/>
                          </a:solidFill>
                          <a:latin typeface="Verdana"/>
                        </a:rPr>
                        <a:t>Gestión RAM</a:t>
                      </a:r>
                    </a:p>
                  </a:txBody>
                  <a:tcPr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529"/>
                          </a:solidFill>
                          <a:latin typeface="Verdana"/>
                        </a:rPr>
                        <a:t>Pistas fijas / Asignación estática</a:t>
                      </a:r>
                    </a:p>
                  </a:txBody>
                  <a:tcPr>
                    <a:solidFill>
                      <a:srgbClr val="EA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12529"/>
                          </a:solidFill>
                          <a:latin typeface="Verdana"/>
                        </a:rPr>
                        <a:t>Memoria Virtual y Paginación</a:t>
                      </a:r>
                    </a:p>
                  </a:txBody>
                  <a:tcPr>
                    <a:solidFill>
                      <a:srgbClr val="EAEEF3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diag_slide3_ker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5394960" cy="37048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040"/>
                </a:solidFill>
                <a:latin typeface="Georgia"/>
              </a:defRPr>
            </a:pPr>
            <a:r>
              <a:t>Diapositiva 4: Concepto de Tarea (Task), TCB y Pila Privada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254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B2040"/>
                </a:solidFill>
                <a:latin typeface="Verdana"/>
              </a:rPr>
              <a:t>• Concepto de Tarea: </a:t>
            </a:r>
            <a:r>
              <a:rPr sz="1400">
                <a:solidFill>
                  <a:srgbClr val="212529"/>
                </a:solidFill>
                <a:latin typeface="Verdana"/>
              </a:rPr>
              <a:t>Hilo de ejecución independiente encapsulado en un bucle infinito en C (for(;;) / while(1)) que nunca debe retornar.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B2040"/>
                </a:solidFill>
                <a:latin typeface="Verdana"/>
              </a:rPr>
              <a:t>• Task Control Block (TCB): </a:t>
            </a:r>
            <a:r>
              <a:rPr sz="1400">
                <a:solidFill>
                  <a:srgbClr val="212529"/>
                </a:solidFill>
                <a:latin typeface="Verdana"/>
              </a:rPr>
              <a:t>Estructura en RAM que actúa como carnet de identidad de la tarea. Almacena puntero de pila, prioridad y estado.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B2040"/>
                </a:solidFill>
                <a:latin typeface="Verdana"/>
              </a:rPr>
              <a:t>• Puntero pxTopOfStack: </a:t>
            </a:r>
            <a:r>
              <a:rPr sz="1400">
                <a:solidFill>
                  <a:srgbClr val="212529"/>
                </a:solidFill>
                <a:latin typeface="Verdana"/>
              </a:rPr>
              <a:t>Primer miembro obligatorio del TCB para acceso ultrarrápido desde ensamblador durante el cambio de contexto.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B2040"/>
                </a:solidFill>
                <a:latin typeface="Verdana"/>
              </a:rPr>
              <a:t>• Pila Privada (Stack): </a:t>
            </a:r>
            <a:r>
              <a:rPr sz="1400">
                <a:solidFill>
                  <a:srgbClr val="212529"/>
                </a:solidFill>
                <a:latin typeface="Verdana"/>
              </a:rPr>
              <a:t>Bloque de RAM donde la tarea guarda variables locales, parámetros y el marco de registros durante interrupciones.</a:t>
            </a:r>
          </a:p>
        </p:txBody>
      </p:sp>
      <p:pic>
        <p:nvPicPr>
          <p:cNvPr id="5" name="Picture 4" descr="diag_slide4_t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5577840" cy="38304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040"/>
                </a:solidFill>
                <a:latin typeface="Georgia"/>
              </a:defRPr>
            </a:pPr>
            <a:r>
              <a:t>Diapositiva 5: Planificación Preventiva y Estados de Tarea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254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B2040"/>
                </a:solidFill>
                <a:latin typeface="Verdana"/>
              </a:rPr>
              <a:t>• Planificación Preventiva: </a:t>
            </a:r>
            <a:r>
              <a:rPr sz="1400">
                <a:solidFill>
                  <a:srgbClr val="212529"/>
                </a:solidFill>
                <a:latin typeface="Verdana"/>
              </a:rPr>
              <a:t>El planificador garantiza que la tarea en estado Ready con la máxima prioridad obtenga el control exclusivo de la CPU.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B2040"/>
                </a:solidFill>
                <a:latin typeface="Verdana"/>
              </a:rPr>
              <a:t>• Optimización HW CLZ: </a:t>
            </a:r>
            <a:r>
              <a:rPr sz="1400">
                <a:solidFill>
                  <a:srgbClr val="212529"/>
                </a:solidFill>
                <a:latin typeface="Verdana"/>
              </a:rPr>
              <a:t>En ARM Cortex-M se utiliza la instrucción Count Leading Zeros para seleccionar la tarea lista en tiempo constante O(1).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B2040"/>
                </a:solidFill>
                <a:latin typeface="Verdana"/>
              </a:rPr>
              <a:t>• Estado Running: </a:t>
            </a:r>
            <a:r>
              <a:rPr sz="1400">
                <a:solidFill>
                  <a:srgbClr val="212529"/>
                </a:solidFill>
                <a:latin typeface="Verdana"/>
              </a:rPr>
              <a:t>Tarea ejecutándose actualmente en el núcleo del procesador.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B2040"/>
                </a:solidFill>
                <a:latin typeface="Verdana"/>
              </a:rPr>
              <a:t>• Estados Ready / Blocked: </a:t>
            </a:r>
            <a:r>
              <a:rPr sz="1400">
                <a:solidFill>
                  <a:srgbClr val="212529"/>
                </a:solidFill>
                <a:latin typeface="Verdana"/>
              </a:rPr>
              <a:t>Ready: Lista para ejecutar. Blocked: Esperando un evento externo (sensor, semáforo, delay).</a:t>
            </a:r>
          </a:p>
        </p:txBody>
      </p:sp>
      <p:pic>
        <p:nvPicPr>
          <p:cNvPr id="5" name="Picture 4" descr="diag_slide5_st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5577840" cy="38514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040"/>
                </a:solidFill>
                <a:latin typeface="Georgia"/>
              </a:defRPr>
            </a:pPr>
            <a:r>
              <a:t>Diapositiva 6: Mecanismos de Sincronización e Inversión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254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B2040"/>
                </a:solidFill>
                <a:latin typeface="Verdana"/>
              </a:rPr>
              <a:t>• Mecanismos IPC: </a:t>
            </a:r>
            <a:r>
              <a:rPr sz="1400">
                <a:solidFill>
                  <a:srgbClr val="212529"/>
                </a:solidFill>
                <a:latin typeface="Verdana"/>
              </a:rPr>
              <a:t>Colas FIFO seguras para paso de mensajes por copia. Semáforos y Mutexes para exclusión mutua.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B2040"/>
                </a:solidFill>
                <a:latin typeface="Verdana"/>
              </a:rPr>
              <a:t>• Inversión de Prioridades: </a:t>
            </a:r>
            <a:r>
              <a:rPr sz="1400">
                <a:solidFill>
                  <a:srgbClr val="212529"/>
                </a:solidFill>
                <a:latin typeface="Verdana"/>
              </a:rPr>
              <a:t>Ocurre cuando una tarea de alta prioridad queda bloqueada por una de baja que sostiene un recurso, mientras una media impide avanzar.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B2040"/>
                </a:solidFill>
                <a:latin typeface="Verdana"/>
              </a:rPr>
              <a:t>• Herencia de Prioridades: </a:t>
            </a:r>
            <a:r>
              <a:rPr sz="1400">
                <a:solidFill>
                  <a:srgbClr val="212529"/>
                </a:solidFill>
                <a:latin typeface="Verdana"/>
              </a:rPr>
              <a:t>FreeRTOS eleva temporalmente la prioridad de la tarea baja al nivel de la alta hasta que libere el Mutex.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B2040"/>
                </a:solidFill>
                <a:latin typeface="Verdana"/>
              </a:rPr>
              <a:t>• Garantía de Tiempo Real: </a:t>
            </a:r>
            <a:r>
              <a:rPr sz="1400">
                <a:solidFill>
                  <a:srgbClr val="212529"/>
                </a:solidFill>
                <a:latin typeface="Verdana"/>
              </a:rPr>
              <a:t>Evita retrasos indefinidos en tareas críticas del sistema.</a:t>
            </a:r>
          </a:p>
        </p:txBody>
      </p:sp>
      <p:pic>
        <p:nvPicPr>
          <p:cNvPr id="5" name="Picture 4" descr="diag_slide6_prio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5577840" cy="38304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040"/>
                </a:solidFill>
                <a:latin typeface="Georgia"/>
              </a:defRPr>
            </a:pPr>
            <a:r>
              <a:t>Diapositiva 7: Estructura del Kernel y Capa de Portabilidad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254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B2040"/>
                </a:solidFill>
                <a:latin typeface="Verdana"/>
              </a:rPr>
              <a:t>• Núcleo C Independiente: </a:t>
            </a:r>
            <a:r>
              <a:rPr sz="1400">
                <a:solidFill>
                  <a:srgbClr val="212529"/>
                </a:solidFill>
                <a:latin typeface="Verdana"/>
              </a:rPr>
              <a:t>Módulos portables en C puro: tasks.c, queue.c, timers.c, list.c.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B2040"/>
                </a:solidFill>
                <a:latin typeface="Verdana"/>
              </a:rPr>
              <a:t>• Capa de Portabilidad: </a:t>
            </a:r>
            <a:r>
              <a:rPr sz="1400">
                <a:solidFill>
                  <a:srgbClr val="212529"/>
                </a:solidFill>
                <a:latin typeface="Verdana"/>
              </a:rPr>
              <a:t>Archivos específicos para el procesador: port.c, portmacro.h, portasm.s.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B2040"/>
                </a:solidFill>
                <a:latin typeface="Verdana"/>
              </a:rPr>
              <a:t>• FreeRTOSConfig.h: </a:t>
            </a:r>
            <a:r>
              <a:rPr sz="1400">
                <a:solidFill>
                  <a:srgbClr val="212529"/>
                </a:solidFill>
                <a:latin typeface="Verdana"/>
              </a:rPr>
              <a:t>Archivo central de configuración para habilitar/deshabilitar módulos y ajustar la huella de memoria.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B2040"/>
                </a:solidFill>
                <a:latin typeface="Verdana"/>
              </a:rPr>
              <a:t>• Doble Puntero de Pila: </a:t>
            </a:r>
            <a:r>
              <a:rPr sz="1400">
                <a:solidFill>
                  <a:srgbClr val="212529"/>
                </a:solidFill>
                <a:latin typeface="Verdana"/>
              </a:rPr>
              <a:t>MSP (Main Stack Pointer) para interrupciones y kernel; PSP (Process Stack Pointer) para tareas.</a:t>
            </a:r>
          </a:p>
        </p:txBody>
      </p:sp>
      <p:pic>
        <p:nvPicPr>
          <p:cNvPr id="5" name="Picture 4" descr="diag_slide7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5577840" cy="38304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040"/>
                </a:solidFill>
                <a:latin typeface="Georgia"/>
              </a:defRPr>
            </a:pPr>
            <a:r>
              <a:t>Diapositiva 8: Algoritmo de Cambio de Contexto en ARM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254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B2040"/>
                </a:solidFill>
                <a:latin typeface="Verdana"/>
              </a:rPr>
              <a:t>• Disparo del Context Switch: </a:t>
            </a:r>
            <a:r>
              <a:rPr sz="1400">
                <a:solidFill>
                  <a:srgbClr val="212529"/>
                </a:solidFill>
                <a:latin typeface="Verdana"/>
              </a:rPr>
              <a:t>Invocado por el temporizador SysTick o la función API portYIELD() marcando el bit de PendSV.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B2040"/>
                </a:solidFill>
                <a:latin typeface="Verdana"/>
              </a:rPr>
              <a:t>• Apilamiento HW (Caller-saved): </a:t>
            </a:r>
            <a:r>
              <a:rPr sz="1400">
                <a:solidFill>
                  <a:srgbClr val="212529"/>
                </a:solidFill>
                <a:latin typeface="Verdana"/>
              </a:rPr>
              <a:t>El hardware de ARM guarda automáticamente R0-R3, R12, LR, PC y xPSR en la pila PSP.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B2040"/>
                </a:solidFill>
                <a:latin typeface="Verdana"/>
              </a:rPr>
              <a:t>• Apilamiento SW (Callee-saved): </a:t>
            </a:r>
            <a:r>
              <a:rPr sz="1400">
                <a:solidFill>
                  <a:srgbClr val="212529"/>
                </a:solidFill>
                <a:latin typeface="Verdana"/>
              </a:rPr>
              <a:t>PendSV_Handler guarda R4-R11 en PSP y actualiza pxTopOfStack en el TCB saliente.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B2040"/>
                </a:solidFill>
                <a:latin typeface="Verdana"/>
              </a:rPr>
              <a:t>• Conmutación y Desapilamiento: </a:t>
            </a:r>
            <a:r>
              <a:rPr sz="1400">
                <a:solidFill>
                  <a:srgbClr val="212529"/>
                </a:solidFill>
                <a:latin typeface="Verdana"/>
              </a:rPr>
              <a:t>vTaskSwitchContext() selecciona la nueva tarea; se restauran R4-R11 y el hardware desapila R0-R3.</a:t>
            </a:r>
          </a:p>
        </p:txBody>
      </p:sp>
      <p:pic>
        <p:nvPicPr>
          <p:cNvPr id="5" name="Picture 4" descr="diag_slide8_c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5577840" cy="38304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040"/>
                </a:solidFill>
                <a:latin typeface="Georgia"/>
              </a:defRPr>
            </a:pPr>
            <a:r>
              <a:t>Diapositiva 9: Explicación Didáctica: Deferred 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254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B2040"/>
                </a:solidFill>
                <a:latin typeface="Verdana"/>
              </a:rPr>
              <a:t>• Regla de Oro en RTOS: </a:t>
            </a:r>
            <a:r>
              <a:rPr sz="1400">
                <a:solidFill>
                  <a:srgbClr val="212529"/>
                </a:solidFill>
                <a:latin typeface="Verdana"/>
              </a:rPr>
              <a:t>Las Rutinas de Servicio de Interrupción (ISRs) deben ser lo más breves y rápidas posible.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B2040"/>
                </a:solidFill>
                <a:latin typeface="Verdana"/>
              </a:rPr>
              <a:t>• Etapa 1 (ISR de HW): </a:t>
            </a:r>
            <a:r>
              <a:rPr sz="1400">
                <a:solidFill>
                  <a:srgbClr val="212529"/>
                </a:solidFill>
                <a:latin typeface="Verdana"/>
              </a:rPr>
              <a:t>Atiende únicamente lo urgente del hardware (limpia banderas, lee registros) y notifica a una tarea.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B2040"/>
                </a:solidFill>
                <a:latin typeface="Verdana"/>
              </a:rPr>
              <a:t>• Etapa 2 (Tarea Diferida): </a:t>
            </a:r>
            <a:r>
              <a:rPr sz="1400">
                <a:solidFill>
                  <a:srgbClr val="212529"/>
                </a:solidFill>
                <a:latin typeface="Verdana"/>
              </a:rPr>
              <a:t>Se ejecuta fuera de la ISR con la prioridad asignada, procesando datos complejos y usando la API completa.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B2040"/>
                </a:solidFill>
                <a:latin typeface="Verdana"/>
              </a:rPr>
              <a:t>• Mecanismos: </a:t>
            </a:r>
            <a:r>
              <a:rPr sz="1400">
                <a:solidFill>
                  <a:srgbClr val="212529"/>
                </a:solidFill>
                <a:latin typeface="Verdana"/>
              </a:rPr>
              <a:t>Implementado mediante xSemaphoreGiveFromISR(), vTaskNotifyGiveFromISR() y portYIELD_FROM_ISR().</a:t>
            </a:r>
          </a:p>
        </p:txBody>
      </p:sp>
      <p:pic>
        <p:nvPicPr>
          <p:cNvPr id="5" name="Picture 4" descr="diag_slide9_defer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5577840" cy="38394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040"/>
                </a:solidFill>
                <a:latin typeface="Georgia"/>
              </a:defRPr>
            </a:pPr>
            <a:r>
              <a:t>Diapositiva 10: Aplicación 1 — Edge AI &amp; TinyML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254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B2040"/>
                </a:solidFill>
                <a:latin typeface="Verdana"/>
              </a:rPr>
              <a:t>• Inferencia en el Borde: </a:t>
            </a:r>
            <a:r>
              <a:rPr sz="1400">
                <a:solidFill>
                  <a:srgbClr val="212529"/>
                </a:solidFill>
                <a:latin typeface="Verdana"/>
              </a:rPr>
              <a:t>Ejecución de redes neuronales convolucionales (CNN) cuantizadas en microcontroladores (STM32H7 / Cortex-M7).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B2040"/>
                </a:solidFill>
                <a:latin typeface="Verdana"/>
              </a:rPr>
              <a:t>• Integración con Frameworks: </a:t>
            </a:r>
            <a:r>
              <a:rPr sz="1400">
                <a:solidFill>
                  <a:srgbClr val="212529"/>
                </a:solidFill>
                <a:latin typeface="Verdana"/>
              </a:rPr>
              <a:t>Soporte para TensorFlow Lite for Microcontrollers y librerías optimizadas CMSIS-NN.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B2040"/>
                </a:solidFill>
                <a:latin typeface="Verdana"/>
              </a:rPr>
              <a:t>• Determinismo y Latencia: </a:t>
            </a:r>
            <a:r>
              <a:rPr sz="1400">
                <a:solidFill>
                  <a:srgbClr val="212529"/>
                </a:solidFill>
                <a:latin typeface="Verdana"/>
              </a:rPr>
              <a:t>Asignación estática de memoria pools garantizando tiempos de inferencia fijos (ej. 13.8 ms).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B2040"/>
                </a:solidFill>
                <a:latin typeface="Verdana"/>
              </a:rPr>
              <a:t>• Eficiencia Energética: </a:t>
            </a:r>
            <a:r>
              <a:rPr sz="1400">
                <a:solidFill>
                  <a:srgbClr val="212529"/>
                </a:solidFill>
                <a:latin typeface="Verdana"/>
              </a:rPr>
              <a:t>Uso del modo Tickless Idle de FreeRTOS para reducir consumo entre ráfagas de inferencia.</a:t>
            </a:r>
          </a:p>
        </p:txBody>
      </p:sp>
      <p:pic>
        <p:nvPicPr>
          <p:cNvPr id="5" name="Picture 4" descr="diag_slide10_edge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5577840" cy="38304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040"/>
                </a:solidFill>
                <a:latin typeface="Georgia"/>
              </a:defRPr>
            </a:pPr>
            <a:r>
              <a:t>Diapositiva 11: Aplicación 2 — Control Digital de Motores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254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B2040"/>
                </a:solidFill>
                <a:latin typeface="Verdana"/>
              </a:rPr>
              <a:t>• Sistemas de Potencia Digital: </a:t>
            </a:r>
            <a:r>
              <a:rPr sz="1400">
                <a:solidFill>
                  <a:srgbClr val="212529"/>
                </a:solidFill>
                <a:latin typeface="Verdana"/>
              </a:rPr>
              <a:t>Control de servodrives, robótica e inversores solares con microcontroladores TI C2000Ware.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B2040"/>
                </a:solidFill>
                <a:latin typeface="Verdana"/>
              </a:rPr>
              <a:t>• Lazos de Control Rápidos: </a:t>
            </a:r>
            <a:r>
              <a:rPr sz="1400">
                <a:solidFill>
                  <a:srgbClr val="212529"/>
                </a:solidFill>
                <a:latin typeface="Verdana"/>
              </a:rPr>
              <a:t>Coordinación de algoritmos FCL (Fast Current Loop) y FOC (Field Oriented Control).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B2040"/>
                </a:solidFill>
                <a:latin typeface="Verdana"/>
              </a:rPr>
              <a:t>• Buses Industriales: </a:t>
            </a:r>
            <a:r>
              <a:rPr sz="1400">
                <a:solidFill>
                  <a:srgbClr val="212529"/>
                </a:solidFill>
                <a:latin typeface="Verdana"/>
              </a:rPr>
              <a:t>Comunicaciones en tiempo real con buses CAN, CAN-FD, EtherCAT e interfaz FSI.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B2040"/>
                </a:solidFill>
                <a:latin typeface="Verdana"/>
              </a:rPr>
              <a:t>• Seguridad Crítica: </a:t>
            </a:r>
            <a:r>
              <a:rPr sz="1400">
                <a:solidFill>
                  <a:srgbClr val="212529"/>
                </a:solidFill>
                <a:latin typeface="Verdana"/>
              </a:rPr>
              <a:t>Pre-certificación SAFERTOS bajo normativas IEC 61508 SIL 3 e ISO 26262 ASIL D.</a:t>
            </a:r>
          </a:p>
        </p:txBody>
      </p:sp>
      <p:pic>
        <p:nvPicPr>
          <p:cNvPr id="5" name="Picture 4" descr="diag_slide11_mo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5577840" cy="383040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040"/>
                </a:solidFill>
                <a:latin typeface="Georgia"/>
              </a:defRPr>
            </a:pPr>
            <a:r>
              <a:t>Diapositiva 12: Aplicación 3 — Impresoras Térmicas Industriales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254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B2040"/>
                </a:solidFill>
                <a:latin typeface="Verdana"/>
              </a:rPr>
              <a:t>• Entornos de Alta Carga: </a:t>
            </a:r>
            <a:r>
              <a:rPr sz="1400">
                <a:solidFill>
                  <a:srgbClr val="212529"/>
                </a:solidFill>
                <a:latin typeface="Verdana"/>
              </a:rPr>
              <a:t>Impresoras industriales de etiquetas en logística, manufactura y puntos de venta.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B2040"/>
                </a:solidFill>
                <a:latin typeface="Verdana"/>
              </a:rPr>
              <a:t>• Prevención de Fallos: </a:t>
            </a:r>
            <a:r>
              <a:rPr sz="1400">
                <a:solidFill>
                  <a:srgbClr val="212529"/>
                </a:solidFill>
                <a:latin typeface="Verdana"/>
              </a:rPr>
              <a:t>Eliminación de desbordamientos de buffer y problemas de sincronización en papel y cabezal.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B2040"/>
                </a:solidFill>
                <a:latin typeface="Verdana"/>
              </a:rPr>
              <a:t>• Multitarea Coordinada: </a:t>
            </a:r>
            <a:r>
              <a:rPr sz="1400">
                <a:solidFill>
                  <a:srgbClr val="212529"/>
                </a:solidFill>
                <a:latin typeface="Verdana"/>
              </a:rPr>
              <a:t>Gestión simultánea de motores de paso, elementos calefactores y buffers USB/Ethernet.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B2040"/>
                </a:solidFill>
                <a:latin typeface="Verdana"/>
              </a:rPr>
              <a:t>• Beneficio Operativo: </a:t>
            </a:r>
            <a:r>
              <a:rPr sz="1400">
                <a:solidFill>
                  <a:srgbClr val="212529"/>
                </a:solidFill>
                <a:latin typeface="Verdana"/>
              </a:rPr>
              <a:t>Reducción de latencias de impresión y disminución de paradas no programadas.</a:t>
            </a:r>
          </a:p>
        </p:txBody>
      </p:sp>
      <p:pic>
        <p:nvPicPr>
          <p:cNvPr id="5" name="Picture 4" descr="diag_slide12_pri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280160"/>
            <a:ext cx="5577840" cy="383040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040"/>
                </a:solidFill>
                <a:latin typeface="Georgia"/>
              </a:defRPr>
            </a:pPr>
            <a:r>
              <a:t>Diapositiva 13: Conclusiones y Preguntas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25400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1094415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1B2040"/>
                </a:solidFill>
                <a:latin typeface="Verdana"/>
              </a:rPr>
              <a:t>• Mínima Huella de Memoria: </a:t>
            </a:r>
            <a:r>
              <a:rPr sz="1300">
                <a:solidFill>
                  <a:srgbClr val="212529"/>
                </a:solidFill>
                <a:latin typeface="Verdana"/>
              </a:rPr>
              <a:t>FreeRTOS requiere menos de 10 KB Flash y 1.5 - 15 KB RAM, adaptándose a microcontroladores restringidos.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B2040"/>
                </a:solidFill>
                <a:latin typeface="Verdana"/>
              </a:rPr>
              <a:t>• Determinismo y Predecibilidad: </a:t>
            </a:r>
            <a:r>
              <a:rPr sz="1300">
                <a:solidFill>
                  <a:srgbClr val="212529"/>
                </a:solidFill>
                <a:latin typeface="Verdana"/>
              </a:rPr>
              <a:t>Garantiza conmutación de tareas O(1) y respuesta en sub-microsegundos ante eventos críticos de hardware.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B2040"/>
                </a:solidFill>
                <a:latin typeface="Verdana"/>
              </a:rPr>
              <a:t>• Arquitectura Robusta y Portabilidad: </a:t>
            </a:r>
            <a:r>
              <a:rPr sz="1300">
                <a:solidFill>
                  <a:srgbClr val="212529"/>
                </a:solidFill>
                <a:latin typeface="Verdana"/>
              </a:rPr>
              <a:t>Capa de portabilidad limpia que separa la lógica de aplicación del código específico de ARM Cortex-M.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B2040"/>
                </a:solidFill>
                <a:latin typeface="Verdana"/>
              </a:rPr>
              <a:t>• Ecosistema Industrial: </a:t>
            </a:r>
            <a:r>
              <a:rPr sz="1300">
                <a:solidFill>
                  <a:srgbClr val="212529"/>
                </a:solidFill>
                <a:latin typeface="Verdana"/>
              </a:rPr>
              <a:t>Ampliamente adoptado desde nodos Edge AI/IoT hasta sistemas de seguridad crítica con SAFERTOS.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663440"/>
            <a:ext cx="11094415" cy="1645920"/>
          </a:xfrm>
          <a:prstGeom prst="roundRect">
            <a:avLst/>
          </a:prstGeom>
          <a:solidFill>
            <a:srgbClr val="1B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Preguntas y Respuestas</a:t>
            </a:r>
          </a:p>
          <a:p>
            <a:pPr algn="ctr">
              <a:defRPr sz="1500">
                <a:solidFill>
                  <a:srgbClr val="E3F2FD"/>
                </a:solidFill>
                <a:latin typeface="Verdana"/>
              </a:defRPr>
            </a:pPr>
            <a:r>
              <a:t>¡Muchas gracias por su atención! Espacio abierto para dudas y comentarios de la audiencia.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2040"/>
                </a:solidFill>
                <a:latin typeface="Verdana"/>
              </a:defRPr>
            </a:pPr>
            <a:r>
              <a:t>Diapositiva 14: Referencias Bibliográficas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1672" cy="25603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94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B2040"/>
                </a:solidFill>
                <a:latin typeface="Verdana"/>
              </a:defRPr>
            </a:pPr>
            <a:r>
              <a:t>📚 Libros y Fundamentos Teóricos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056B3"/>
                </a:solidFill>
                <a:latin typeface="Verdana"/>
              </a:rPr>
              <a:t>• Tanenbaum, A. S. (2009).</a:t>
            </a:r>
            <a:r>
              <a:rPr sz="1100">
                <a:solidFill>
                  <a:srgbClr val="212529"/>
                </a:solidFill>
                <a:latin typeface="Verdana"/>
              </a:rPr>
              <a:t> Sistemas Operativos Modernos (3ª ed.). Pearson Educación.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056B3"/>
                </a:solidFill>
                <a:latin typeface="Verdana"/>
              </a:rPr>
              <a:t>• Siewert, S., &amp; Pratt, J. (2015).</a:t>
            </a:r>
            <a:r>
              <a:rPr sz="1100">
                <a:solidFill>
                  <a:srgbClr val="212529"/>
                </a:solidFill>
                <a:latin typeface="Verdana"/>
              </a:rPr>
              <a:t> Real-Time Embedded Components and Systems with Linux and RTOS (2nd ed.). Mercury Learning.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056B3"/>
                </a:solidFill>
                <a:latin typeface="Verdana"/>
              </a:rPr>
              <a:t>• Valdés Pérez, F. E., &amp; Pallás Areny, R. (2007).</a:t>
            </a:r>
            <a:r>
              <a:rPr sz="1100">
                <a:solidFill>
                  <a:srgbClr val="212529"/>
                </a:solidFill>
                <a:latin typeface="Verdana"/>
              </a:rPr>
              <a:t> Sistemas de Tiempo Real: Introducción al Diseño. Marcombo.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056B3"/>
                </a:solidFill>
                <a:latin typeface="Verdana"/>
              </a:rPr>
              <a:t>• UNICEN. (2004).</a:t>
            </a:r>
            <a:r>
              <a:rPr sz="1100">
                <a:solidFill>
                  <a:srgbClr val="212529"/>
                </a:solidFill>
                <a:latin typeface="Verdana"/>
              </a:rPr>
              <a:t> Una Panorámica del Problema de Inversión de Prioridades en Sistemas Operativos de Tiempo Real. UNICEN.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5352" y="1280160"/>
            <a:ext cx="5394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B2040"/>
                </a:solidFill>
                <a:latin typeface="Verdana"/>
              </a:defRPr>
            </a:pPr>
            <a:r>
              <a:t>🛠️ Documentación Oficial y Manuales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056B3"/>
                </a:solidFill>
                <a:latin typeface="Verdana"/>
              </a:rPr>
              <a:t>• Real Time Engineers Ltd. / AWS. (2017).</a:t>
            </a:r>
            <a:r>
              <a:rPr sz="1100">
                <a:solidFill>
                  <a:srgbClr val="212529"/>
                </a:solidFill>
                <a:latin typeface="Verdana"/>
              </a:rPr>
              <a:t> Mastering the FreeRTOS™ Real Time Kernel: A Hands-On Tutorial Guide. Amazon Web Services.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056B3"/>
                </a:solidFill>
                <a:latin typeface="Verdana"/>
              </a:rPr>
              <a:t>• Real Time Engineers Ltd. / AWS. (2018).</a:t>
            </a:r>
            <a:r>
              <a:rPr sz="1100">
                <a:solidFill>
                  <a:srgbClr val="212529"/>
                </a:solidFill>
                <a:latin typeface="Verdana"/>
              </a:rPr>
              <a:t> The FreeRTOS™ Reference Manual: API &amp; Configuration Guide (v10.0.0). Amazon Web Services.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056B3"/>
                </a:solidFill>
                <a:latin typeface="Verdana"/>
              </a:rPr>
              <a:t>• FreeRTOS.org. (2024).</a:t>
            </a:r>
            <a:r>
              <a:rPr sz="1100">
                <a:solidFill>
                  <a:srgbClr val="212529"/>
                </a:solidFill>
                <a:latin typeface="Verdana"/>
              </a:rPr>
              <a:t> FreeRTOS Kernel Core, Configuration &amp; Porting Documentation. Amazon Web Services.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056B3"/>
                </a:solidFill>
                <a:latin typeface="Verdana"/>
              </a:rPr>
              <a:t>• CosmicLearn. (2022).</a:t>
            </a:r>
            <a:r>
              <a:rPr sz="1100">
                <a:solidFill>
                  <a:srgbClr val="212529"/>
                </a:solidFill>
                <a:latin typeface="Verdana"/>
              </a:rPr>
              <a:t> RTOS FreeRTOS: Core, Configuration &amp; Porting Mechanics.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2040"/>
                </a:solidFill>
                <a:latin typeface="Verdana"/>
              </a:defRPr>
            </a:pPr>
            <a:r>
              <a:t>Diapositiva 15: Referencias Bibliográficas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1672" cy="25603"/>
          </a:xfrm>
          <a:prstGeom prst="rect">
            <a:avLst/>
          </a:prstGeom>
          <a:solidFill>
            <a:srgbClr val="0056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94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B2040"/>
                </a:solidFill>
                <a:latin typeface="Verdana"/>
              </a:defRPr>
            </a:pPr>
            <a:r>
              <a:t>⚙️ Arquitectura e Implementación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056B3"/>
                </a:solidFill>
                <a:latin typeface="Verdana"/>
              </a:rPr>
              <a:t>• Memfault (Interrupt). (2021).</a:t>
            </a:r>
            <a:r>
              <a:rPr sz="1100">
                <a:solidFill>
                  <a:srgbClr val="212529"/>
                </a:solidFill>
                <a:latin typeface="Verdana"/>
              </a:rPr>
              <a:t> ARM Cortex-M RTOS Context Switching &amp; PendSV Exception Handler Mechanics.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056B3"/>
                </a:solidFill>
                <a:latin typeface="Verdana"/>
              </a:rPr>
              <a:t>• Texas Instruments Incorporated. (2020).</a:t>
            </a:r>
            <a:r>
              <a:rPr sz="1100">
                <a:solidFill>
                  <a:srgbClr val="212529"/>
                </a:solidFill>
                <a:latin typeface="Verdana"/>
              </a:rPr>
              <a:t> C2000™ Software Guide (Rev. v1.5) &amp; SimpleLink™ MCU Platform (Rev. E).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056B3"/>
                </a:solidFill>
                <a:latin typeface="Verdana"/>
              </a:rPr>
              <a:t>• WITTENSTEIN High Integrity Systems.</a:t>
            </a:r>
            <a:r>
              <a:rPr sz="1100">
                <a:solidFill>
                  <a:srgbClr val="212529"/>
                </a:solidFill>
                <a:latin typeface="Verdana"/>
              </a:rPr>
              <a:t> Functional Safety Standards for SAFERTOS® (IEC 61508 SIL 3 / ISO 26262 ASIL D).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5352" y="1280160"/>
            <a:ext cx="5394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005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800"/>
              </a:spcAft>
              <a:defRPr sz="1400" b="1">
                <a:solidFill>
                  <a:srgbClr val="1B2040"/>
                </a:solidFill>
                <a:latin typeface="Verdana"/>
              </a:defRPr>
            </a:pPr>
            <a:r>
              <a:t>🏭 Aplicaciones Industriales y Edge AI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056B3"/>
                </a:solidFill>
                <a:latin typeface="Verdana"/>
              </a:rPr>
              <a:t>• IJTERD. (2023).</a:t>
            </a:r>
            <a:r>
              <a:rPr sz="1100">
                <a:solidFill>
                  <a:srgbClr val="212529"/>
                </a:solidFill>
                <a:latin typeface="Verdana"/>
              </a:rPr>
              <a:t> Real-time Operating Systems (RTOS) For Edge AI &amp; TinyML Benchmarking in Microcontrollers.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056B3"/>
                </a:solidFill>
                <a:latin typeface="Verdana"/>
              </a:rPr>
              <a:t>• Journal of Quantum Science and Technology. (2022).</a:t>
            </a:r>
            <a:r>
              <a:rPr sz="1100">
                <a:solidFill>
                  <a:srgbClr val="212529"/>
                </a:solidFill>
                <a:latin typeface="Verdana"/>
              </a:rPr>
              <a:t> Optimizing Thermal Printer Performance with On-Time RTOS for Industrial Applications.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0056B3"/>
                </a:solidFill>
                <a:latin typeface="Verdana"/>
              </a:rPr>
              <a:t>• Valdés, F., et al.</a:t>
            </a:r>
            <a:r>
              <a:rPr sz="1100">
                <a:solidFill>
                  <a:srgbClr val="212529"/>
                </a:solidFill>
                <a:latin typeface="Verdana"/>
              </a:rPr>
              <a:t> Electronics for Embedded Systems &amp; Passive Circuit Analysis for Real-Time Controllers.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